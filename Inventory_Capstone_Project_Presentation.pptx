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29"/>
  </p:notesMasterIdLst>
  <p:sldIdLst>
    <p:sldId id="256" r:id="rId2"/>
    <p:sldId id="273" r:id="rId3"/>
    <p:sldId id="257" r:id="rId4"/>
    <p:sldId id="258" r:id="rId5"/>
    <p:sldId id="259" r:id="rId6"/>
    <p:sldId id="275" r:id="rId7"/>
    <p:sldId id="276" r:id="rId8"/>
    <p:sldId id="262" r:id="rId9"/>
    <p:sldId id="277" r:id="rId10"/>
    <p:sldId id="278" r:id="rId11"/>
    <p:sldId id="263" r:id="rId12"/>
    <p:sldId id="279" r:id="rId13"/>
    <p:sldId id="264" r:id="rId14"/>
    <p:sldId id="280" r:id="rId15"/>
    <p:sldId id="265" r:id="rId16"/>
    <p:sldId id="281" r:id="rId17"/>
    <p:sldId id="266" r:id="rId18"/>
    <p:sldId id="267" r:id="rId19"/>
    <p:sldId id="282" r:id="rId20"/>
    <p:sldId id="268" r:id="rId21"/>
    <p:sldId id="283" r:id="rId22"/>
    <p:sldId id="269" r:id="rId23"/>
    <p:sldId id="284" r:id="rId24"/>
    <p:sldId id="270" r:id="rId25"/>
    <p:sldId id="271" r:id="rId26"/>
    <p:sldId id="272" r:id="rId27"/>
    <p:sldId id="274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268" autoAdjust="0"/>
  </p:normalViewPr>
  <p:slideViewPr>
    <p:cSldViewPr snapToGrid="0" snapToObjects="1">
      <p:cViewPr varScale="1">
        <p:scale>
          <a:sx n="68" d="100"/>
          <a:sy n="68" d="100"/>
        </p:scale>
        <p:origin x="18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1A6A7-932F-4790-8132-54632F503ED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A2E25-D162-4130-9EDA-092D6B9C7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806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A2E25-D162-4130-9EDA-092D6B9C70D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01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A2E25-D162-4130-9EDA-092D6B9C70D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795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24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1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96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1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9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927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1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59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09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0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0493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Inventory Optimization &amp; Supply Chain Insights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Capstone Project</a:t>
            </a:r>
          </a:p>
          <a:p>
            <a:r>
              <a:rPr dirty="0"/>
              <a:t>Tools: Excel | Python | MySQL | Power BI</a:t>
            </a:r>
          </a:p>
          <a:p>
            <a:r>
              <a:rPr dirty="0"/>
              <a:t>Prepared by: </a:t>
            </a:r>
            <a:r>
              <a:rPr lang="en-IN" dirty="0"/>
              <a:t>Narendra Verma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dirty="0"/>
              <a:t>This project demonstrates an end-to-end analytics workflow including data preparation, transformation, SQL-based insights, and interactive dashboard visualization.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Acknowledgment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 would like to express my sincere gratitude to everyone who supported me during the completion of this capstone project.</a:t>
            </a:r>
          </a:p>
          <a:p>
            <a:pPr marL="0" indent="0">
              <a:buNone/>
            </a:pPr>
            <a:r>
              <a:rPr lang="en-US" dirty="0"/>
              <a:t>I would especially like to thank:</a:t>
            </a:r>
          </a:p>
          <a:p>
            <a:r>
              <a:rPr lang="en-US" dirty="0"/>
              <a:t>My instructors and mentors for their valuable guidance </a:t>
            </a:r>
          </a:p>
          <a:p>
            <a:r>
              <a:rPr lang="en-US" dirty="0"/>
              <a:t>My institution for providing learning resources </a:t>
            </a:r>
          </a:p>
          <a:p>
            <a:r>
              <a:rPr lang="en-US" dirty="0"/>
              <a:t>The online analytics community and documentation platforms for technical support </a:t>
            </a:r>
          </a:p>
          <a:p>
            <a:r>
              <a:rPr lang="en-US" dirty="0"/>
              <a:t>My peers for their encouragement and feedback </a:t>
            </a:r>
          </a:p>
          <a:p>
            <a:pPr marL="0" indent="0">
              <a:buNone/>
            </a:pPr>
            <a:r>
              <a:rPr lang="en-US" dirty="0"/>
              <a:t>Their support played a crucial role in the successful completion of this project.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objective of this project is to analyze inventory operations, supplier performance, and sales trends using structured datasets and interactive dashboards.</a:t>
            </a:r>
          </a:p>
          <a:p>
            <a:pPr marL="0" indent="0">
              <a:buNone/>
            </a:pPr>
            <a:r>
              <a:rPr lang="en-US" dirty="0"/>
              <a:t>Key goals:</a:t>
            </a:r>
          </a:p>
          <a:p>
            <a:r>
              <a:rPr lang="en-US" dirty="0"/>
              <a:t>Monitor stock availability across warehouses </a:t>
            </a:r>
          </a:p>
          <a:p>
            <a:r>
              <a:rPr lang="en-US" dirty="0"/>
              <a:t>Identify low-stock and out-of-stock products </a:t>
            </a:r>
          </a:p>
          <a:p>
            <a:r>
              <a:rPr lang="en-US" dirty="0"/>
              <a:t>Evaluate supplier delivery performance </a:t>
            </a:r>
          </a:p>
          <a:p>
            <a:r>
              <a:rPr lang="en-US" dirty="0"/>
              <a:t>Measure fulfillment efficiency </a:t>
            </a:r>
          </a:p>
          <a:p>
            <a:r>
              <a:rPr lang="en-US" dirty="0"/>
              <a:t>Analyze sales trends across categories </a:t>
            </a:r>
          </a:p>
          <a:p>
            <a:r>
              <a:rPr lang="en-US" dirty="0"/>
              <a:t>Support data-driven inventory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 Used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</a:rPr>
              <a:t>This project was developed using multiple analytics tools across different stages: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E4A586-DA38-31EC-C9CE-98E22484C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441690"/>
              </p:ext>
            </p:extLst>
          </p:nvPr>
        </p:nvGraphicFramePr>
        <p:xfrm>
          <a:off x="1320800" y="3750308"/>
          <a:ext cx="7366000" cy="237744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1830754009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502340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768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Initial data validation &amp; structure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510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cleaning and missing value 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46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analysis queries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111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57366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92CB7D-7B2B-292C-BE9B-EDF863C96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487813"/>
              </p:ext>
            </p:extLst>
          </p:nvPr>
        </p:nvGraphicFramePr>
        <p:xfrm>
          <a:off x="581192" y="2810933"/>
          <a:ext cx="7670986" cy="3397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5493">
                  <a:extLst>
                    <a:ext uri="{9D8B030D-6E8A-4147-A177-3AD203B41FA5}">
                      <a16:colId xmlns:a16="http://schemas.microsoft.com/office/drawing/2014/main" val="3525845404"/>
                    </a:ext>
                  </a:extLst>
                </a:gridCol>
                <a:gridCol w="3835493">
                  <a:extLst>
                    <a:ext uri="{9D8B030D-6E8A-4147-A177-3AD203B41FA5}">
                      <a16:colId xmlns:a16="http://schemas.microsoft.com/office/drawing/2014/main" val="3933069126"/>
                    </a:ext>
                  </a:extLst>
                </a:gridCol>
              </a:tblGrid>
              <a:tr h="424745">
                <a:tc>
                  <a:txBody>
                    <a:bodyPr/>
                    <a:lstStyle/>
                    <a:p>
                      <a:r>
                        <a:rPr lang="en-IN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15149"/>
                  </a:ext>
                </a:extLst>
              </a:tr>
              <a:tr h="743303">
                <a:tc>
                  <a:txBody>
                    <a:bodyPr/>
                    <a:lstStyle/>
                    <a:p>
                      <a:r>
                        <a:rPr lang="en-IN" dirty="0"/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 data validation &amp; structure review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766963"/>
                  </a:ext>
                </a:extLst>
              </a:tr>
              <a:tr h="743303"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Cleaning and missing value treatment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273721"/>
                  </a:ext>
                </a:extLst>
              </a:tr>
              <a:tr h="743303">
                <a:tc>
                  <a:txBody>
                    <a:bodyPr/>
                    <a:lstStyle/>
                    <a:p>
                      <a:r>
                        <a:rPr lang="en-IN" dirty="0"/>
                        <a:t>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transformation and business analytics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674628"/>
                  </a:ext>
                </a:extLst>
              </a:tr>
              <a:tr h="743303">
                <a:tc>
                  <a:txBody>
                    <a:bodyPr/>
                    <a:lstStyle/>
                    <a:p>
                      <a:r>
                        <a:rPr lang="en-IN" dirty="0"/>
                        <a:t>Power BI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Dashboard development and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6064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project uses a relational dataset consisting of multiple connected tables: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Products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Inventory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Suppliers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Warehouses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Purchase Orders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Sales Transactions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Categories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These tables together represent an inventory and supply-chain analytics system.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8F10D-A5D9-FE7B-DD0F-043860E5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Model view relationships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A69FCA-42C6-B240-4374-55FE9054A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347" y="2227263"/>
            <a:ext cx="6457244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49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0086-B0D7-7D75-BE3A-A62272AA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Workflow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99924-32C0-2266-A6D1-B40BCBDEB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The workflow followed a structured analytics pipeline:</a:t>
            </a:r>
          </a:p>
          <a:p>
            <a:pPr marL="0" indent="0">
              <a:buNone/>
            </a:pPr>
            <a:r>
              <a:rPr lang="en-IN" dirty="0"/>
              <a:t>CSV Dataset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Excel Validation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Python Data Cleaning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MySQL Data Transformation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Power BI Dashboard Development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Business Insights Generation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workflow ensures data accuracy and reliable reporting.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646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Validation Using Excel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Before analysis, dataset quality was verified using Excel.</a:t>
            </a:r>
          </a:p>
          <a:p>
            <a:pPr marL="0" indent="0">
              <a:buNone/>
            </a:pPr>
            <a:r>
              <a:rPr lang="en-US" dirty="0"/>
              <a:t>Performed tasks:</a:t>
            </a:r>
          </a:p>
          <a:p>
            <a:r>
              <a:rPr lang="en-US" dirty="0"/>
              <a:t>Checked missing values </a:t>
            </a:r>
          </a:p>
          <a:p>
            <a:r>
              <a:rPr lang="en-US" dirty="0"/>
              <a:t>Reviewed column structure </a:t>
            </a:r>
          </a:p>
          <a:p>
            <a:r>
              <a:rPr lang="en-US" dirty="0"/>
              <a:t>Verified datatype consistency </a:t>
            </a:r>
          </a:p>
          <a:p>
            <a:r>
              <a:rPr lang="en-US" dirty="0"/>
              <a:t>Identified duplicate records </a:t>
            </a:r>
          </a:p>
          <a:p>
            <a:r>
              <a:rPr lang="en-US" dirty="0"/>
              <a:t>Validated relationships between tables </a:t>
            </a:r>
          </a:p>
          <a:p>
            <a:pPr marL="0" indent="0">
              <a:buNone/>
            </a:pPr>
            <a:r>
              <a:rPr lang="en-US" dirty="0"/>
              <a:t>Excel helped ensure the dataset structure was suitable for further processing.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0B8D-0718-D241-02C9-21A911E6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Using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D8E17-331F-943C-EC35-9D5F553B9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Python was used to clean and prepare the dataset before loading into SQL.</a:t>
            </a:r>
          </a:p>
          <a:p>
            <a:pPr marL="0" indent="0">
              <a:buNone/>
            </a:pPr>
            <a:r>
              <a:rPr lang="en-US" dirty="0"/>
              <a:t>Key cleaning steps:</a:t>
            </a:r>
          </a:p>
          <a:p>
            <a:r>
              <a:rPr lang="en-US" dirty="0"/>
              <a:t>Replaced missing </a:t>
            </a:r>
            <a:r>
              <a:rPr lang="en-US" dirty="0" err="1"/>
              <a:t>shelf_life</a:t>
            </a:r>
            <a:r>
              <a:rPr lang="en-US" dirty="0"/>
              <a:t> values category-wise </a:t>
            </a:r>
          </a:p>
          <a:p>
            <a:r>
              <a:rPr lang="en-US" dirty="0"/>
              <a:t>Updated </a:t>
            </a:r>
            <a:r>
              <a:rPr lang="en-US" dirty="0" err="1"/>
              <a:t>received_date</a:t>
            </a:r>
            <a:r>
              <a:rPr lang="en-US" dirty="0"/>
              <a:t> using </a:t>
            </a:r>
            <a:r>
              <a:rPr lang="en-US" dirty="0" err="1"/>
              <a:t>expected_date</a:t>
            </a:r>
            <a:r>
              <a:rPr lang="en-US" dirty="0"/>
              <a:t> </a:t>
            </a:r>
          </a:p>
          <a:p>
            <a:r>
              <a:rPr lang="en-US" dirty="0"/>
              <a:t>Updated inventory </a:t>
            </a:r>
            <a:r>
              <a:rPr lang="en-US" dirty="0" err="1"/>
              <a:t>last_updated</a:t>
            </a:r>
            <a:r>
              <a:rPr lang="en-US" dirty="0"/>
              <a:t> using </a:t>
            </a:r>
            <a:r>
              <a:rPr lang="en-US" dirty="0" err="1"/>
              <a:t>purchase_orders</a:t>
            </a:r>
            <a:r>
              <a:rPr lang="en-US" dirty="0"/>
              <a:t> table </a:t>
            </a:r>
          </a:p>
          <a:p>
            <a:r>
              <a:rPr lang="en-US" dirty="0"/>
              <a:t>Calculated missing </a:t>
            </a:r>
            <a:r>
              <a:rPr lang="en-US" dirty="0" err="1"/>
              <a:t>sales_amount</a:t>
            </a:r>
            <a:r>
              <a:rPr lang="en-US" dirty="0"/>
              <a:t> using quantity × </a:t>
            </a:r>
            <a:r>
              <a:rPr lang="en-US" dirty="0" err="1"/>
              <a:t>unit_price</a:t>
            </a:r>
            <a:r>
              <a:rPr lang="en-US" dirty="0"/>
              <a:t> </a:t>
            </a:r>
          </a:p>
          <a:p>
            <a:r>
              <a:rPr lang="en-US" dirty="0"/>
              <a:t>Converted incorrect datatypes </a:t>
            </a:r>
          </a:p>
          <a:p>
            <a:r>
              <a:rPr lang="en-US" dirty="0"/>
              <a:t>Handled null values across multiple tables </a:t>
            </a:r>
          </a:p>
          <a:p>
            <a:pPr marL="0" indent="0">
              <a:buNone/>
            </a:pPr>
            <a:r>
              <a:rPr lang="en-US" dirty="0"/>
              <a:t>These steps improved dataset accuracy and consistency.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602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6B3B-9024-309B-81F8-54CEF15B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notebook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33647A-8EF0-703E-1473-EE94BEB80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244" y="1600200"/>
            <a:ext cx="4301067" cy="4525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874246-7CC0-5E6B-28A6-AA7FCCA32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311" y="1600200"/>
            <a:ext cx="4301068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891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Loading into MySQL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cleaning the dataset:</a:t>
            </a:r>
          </a:p>
          <a:p>
            <a:r>
              <a:rPr lang="en-US" dirty="0"/>
              <a:t>CSV files were imported into MySQL </a:t>
            </a:r>
          </a:p>
          <a:p>
            <a:r>
              <a:rPr lang="en-US" dirty="0"/>
              <a:t>Tables were structured relationally </a:t>
            </a:r>
          </a:p>
          <a:p>
            <a:r>
              <a:rPr lang="en-US" dirty="0"/>
              <a:t>Primary and foreign key relationships were validated </a:t>
            </a:r>
          </a:p>
          <a:p>
            <a:r>
              <a:rPr lang="en-US" dirty="0"/>
              <a:t>Row counts were verified </a:t>
            </a:r>
          </a:p>
          <a:p>
            <a:pPr marL="0" indent="0">
              <a:buNone/>
            </a:pPr>
            <a:r>
              <a:rPr lang="en-US" dirty="0"/>
              <a:t>This ensured reliable SQL-based analytics.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6B64-708B-0638-0BAD-D1ED4E6E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Tables In MySQL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E5D74E-1C3E-DB90-422F-8C2493157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222" y="1600200"/>
            <a:ext cx="4289778" cy="4525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B47966-BCBA-15C1-DD45-1C5CD47D0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00199"/>
            <a:ext cx="440266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94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SQL queries were used to generate business-ready analytics columns.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Created stock status classification </a:t>
            </a:r>
          </a:p>
          <a:p>
            <a:r>
              <a:rPr lang="en-US" dirty="0"/>
              <a:t>Identified delayed supplier deliveries </a:t>
            </a:r>
          </a:p>
          <a:p>
            <a:r>
              <a:rPr lang="en-US" dirty="0"/>
              <a:t>Calculated fulfillment percentages </a:t>
            </a:r>
          </a:p>
          <a:p>
            <a:r>
              <a:rPr lang="en-US" dirty="0"/>
              <a:t>Generated inventory value metrics </a:t>
            </a:r>
          </a:p>
          <a:p>
            <a:r>
              <a:rPr lang="en-US" dirty="0"/>
              <a:t>Created category-level performance indicators </a:t>
            </a:r>
          </a:p>
          <a:p>
            <a:pPr marL="0" indent="0">
              <a:buNone/>
            </a:pPr>
            <a:r>
              <a:rPr lang="en-US" dirty="0"/>
              <a:t>SQL transformation improved interpretability of raw data.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DCFA-7805-E825-A017-2FD852F4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7495"/>
          </a:xfrm>
        </p:spPr>
        <p:txBody>
          <a:bodyPr>
            <a:normAutofit/>
          </a:bodyPr>
          <a:lstStyle/>
          <a:p>
            <a:r>
              <a:rPr lang="en-IN" dirty="0"/>
              <a:t>CASE WHEN query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4416A7-7486-A8B2-A5EB-D9FE48AC1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982133"/>
            <a:ext cx="8046156" cy="51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97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Business Analysis Queries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SQL queries helped generate operational insights: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Top selling products identification </a:t>
            </a:r>
          </a:p>
          <a:p>
            <a:r>
              <a:rPr lang="en-US" dirty="0"/>
              <a:t>Low stock product detection </a:t>
            </a:r>
          </a:p>
          <a:p>
            <a:r>
              <a:rPr lang="en-US" dirty="0"/>
              <a:t>Supplier delay tracking </a:t>
            </a:r>
          </a:p>
          <a:p>
            <a:r>
              <a:rPr lang="en-US" dirty="0"/>
              <a:t>Warehouse inventory valuation </a:t>
            </a:r>
          </a:p>
          <a:p>
            <a:r>
              <a:rPr lang="en-US" dirty="0"/>
              <a:t>Category-wise revenue comparison </a:t>
            </a:r>
          </a:p>
          <a:p>
            <a:r>
              <a:rPr lang="en-US" dirty="0"/>
              <a:t>Monthly revenue trend analysis </a:t>
            </a:r>
          </a:p>
          <a:p>
            <a:pPr marL="0" indent="0">
              <a:buNone/>
            </a:pPr>
            <a:r>
              <a:rPr lang="en-US" dirty="0"/>
              <a:t>These insights supported dashboard visualization.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23691-B66C-3315-9990-5EEB83B99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results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C6CCF1-F373-5633-F7E3-034DCE9C1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230490"/>
            <a:ext cx="8046156" cy="489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93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Data Model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star-schema style relational model was built in Power BI.</a:t>
            </a:r>
          </a:p>
          <a:p>
            <a:pPr marL="0" indent="0">
              <a:buNone/>
            </a:pPr>
            <a:r>
              <a:rPr lang="en-US" dirty="0"/>
              <a:t>Steps performed:</a:t>
            </a:r>
          </a:p>
          <a:p>
            <a:r>
              <a:rPr lang="en-US" dirty="0"/>
              <a:t>Connected dimension tables with fact tables </a:t>
            </a:r>
          </a:p>
          <a:p>
            <a:r>
              <a:rPr lang="en-US" dirty="0"/>
              <a:t>Created </a:t>
            </a:r>
            <a:r>
              <a:rPr lang="en-US" dirty="0" err="1"/>
              <a:t>DateTable</a:t>
            </a:r>
            <a:r>
              <a:rPr lang="en-US" dirty="0"/>
              <a:t> for time intelligence </a:t>
            </a:r>
          </a:p>
          <a:p>
            <a:r>
              <a:rPr lang="en-US" dirty="0"/>
              <a:t>Enabled filtering across dashboards </a:t>
            </a:r>
          </a:p>
          <a:p>
            <a:r>
              <a:rPr lang="en-US" dirty="0"/>
              <a:t>Ensured optimized relationships for reporting </a:t>
            </a:r>
          </a:p>
          <a:p>
            <a:pPr marL="0" indent="0">
              <a:buNone/>
            </a:pPr>
            <a:r>
              <a:rPr lang="en-US" dirty="0"/>
              <a:t>This structure supports scalable analytics reporting.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1: Inventory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dashboard focuses on stock monitoring and warehouse visibility.</a:t>
            </a:r>
          </a:p>
          <a:p>
            <a:pPr marL="0" indent="0">
              <a:buNone/>
            </a:pPr>
            <a:r>
              <a:rPr lang="en-US" dirty="0"/>
              <a:t>Key features:</a:t>
            </a:r>
          </a:p>
          <a:p>
            <a:r>
              <a:rPr lang="en-US" dirty="0"/>
              <a:t>Total inventory value tracking </a:t>
            </a:r>
          </a:p>
          <a:p>
            <a:r>
              <a:rPr lang="en-US" dirty="0"/>
              <a:t>Low-stock and out-of-stock identification </a:t>
            </a:r>
          </a:p>
          <a:p>
            <a:r>
              <a:rPr lang="en-US" dirty="0"/>
              <a:t>Damaged inventory monitoring </a:t>
            </a:r>
          </a:p>
          <a:p>
            <a:r>
              <a:rPr lang="en-US" dirty="0"/>
              <a:t>Category-wise inventory comparison </a:t>
            </a:r>
          </a:p>
          <a:p>
            <a:r>
              <a:rPr lang="en-US" dirty="0"/>
              <a:t>Warehouse-wise stock distribution </a:t>
            </a:r>
          </a:p>
          <a:p>
            <a:pPr marL="0" indent="0">
              <a:buNone/>
            </a:pPr>
            <a:r>
              <a:rPr lang="en-US" dirty="0"/>
              <a:t>Supports inventory control decisions.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3E1B-C2DB-ECFF-A431-D3314F8E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Inventory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39BB96-0CFD-0206-BC45-2F2CBFF0D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777" y="1275644"/>
            <a:ext cx="8647289" cy="530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67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2: Sales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dashboard analyzes product demand and revenue trends.</a:t>
            </a:r>
          </a:p>
          <a:p>
            <a:pPr marL="0" indent="0">
              <a:buNone/>
            </a:pPr>
            <a:r>
              <a:rPr lang="en-US" dirty="0"/>
              <a:t>Key features:</a:t>
            </a:r>
          </a:p>
          <a:p>
            <a:r>
              <a:rPr lang="en-US" dirty="0"/>
              <a:t>Monthly revenue trend analysis </a:t>
            </a:r>
          </a:p>
          <a:p>
            <a:r>
              <a:rPr lang="en-US" dirty="0"/>
              <a:t>Category-wise revenue comparison </a:t>
            </a:r>
          </a:p>
          <a:p>
            <a:r>
              <a:rPr lang="en-US" dirty="0"/>
              <a:t>Top-selling product identification </a:t>
            </a:r>
          </a:p>
          <a:p>
            <a:r>
              <a:rPr lang="en-US" dirty="0"/>
              <a:t>Quantity growth tracking </a:t>
            </a:r>
          </a:p>
          <a:p>
            <a:r>
              <a:rPr lang="en-US" dirty="0"/>
              <a:t>Sales performance KPIs with percentage change indicators </a:t>
            </a:r>
          </a:p>
          <a:p>
            <a:pPr marL="0" indent="0">
              <a:buNone/>
            </a:pPr>
            <a:r>
              <a:rPr lang="en-US" dirty="0"/>
              <a:t>Supports sales strategy decisions.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652BD-0B2F-5916-574A-6EC119E1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CF6DC3-A983-44EA-F955-97334CAEC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96622"/>
            <a:ext cx="8321322" cy="526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445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Dashboard 3: Supplier &amp; Warehouse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dashboard evaluates supply-chain efficiency.</a:t>
            </a:r>
          </a:p>
          <a:p>
            <a:pPr marL="0" indent="0">
              <a:buNone/>
            </a:pPr>
            <a:r>
              <a:rPr lang="en-US" dirty="0"/>
              <a:t>Key features:</a:t>
            </a:r>
          </a:p>
          <a:p>
            <a:r>
              <a:rPr lang="en-US" dirty="0"/>
              <a:t>Supplier delay tracking </a:t>
            </a:r>
          </a:p>
          <a:p>
            <a:r>
              <a:rPr lang="en-US" dirty="0"/>
              <a:t>Fulfillment rate measurement </a:t>
            </a:r>
          </a:p>
          <a:p>
            <a:r>
              <a:rPr lang="en-US" dirty="0"/>
              <a:t>Warehouse damage comparison </a:t>
            </a:r>
          </a:p>
          <a:p>
            <a:r>
              <a:rPr lang="en-US" dirty="0"/>
              <a:t>Warehouse inventory value analysis </a:t>
            </a:r>
          </a:p>
          <a:p>
            <a:r>
              <a:rPr lang="en-US" dirty="0"/>
              <a:t>Supplier performance scorecard </a:t>
            </a:r>
          </a:p>
          <a:p>
            <a:pPr marL="0" indent="0">
              <a:buNone/>
            </a:pPr>
            <a:r>
              <a:rPr lang="en-US" dirty="0"/>
              <a:t>Supports supplier evaluation decisions.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908A-7025-413D-41BE-B66EEC9F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Supplier&amp; Warehouse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D23740-A1A5-A9DF-5961-AC0874986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347" y="2227263"/>
            <a:ext cx="6457244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59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Generated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analysis produced several operational insights:</a:t>
            </a:r>
          </a:p>
          <a:p>
            <a:r>
              <a:rPr lang="en-US" dirty="0"/>
              <a:t>Identified suppliers with frequent delivery delays </a:t>
            </a:r>
          </a:p>
          <a:p>
            <a:r>
              <a:rPr lang="en-US" dirty="0"/>
              <a:t>Detected warehouses with high damaged inventory </a:t>
            </a:r>
          </a:p>
          <a:p>
            <a:r>
              <a:rPr lang="en-US" dirty="0"/>
              <a:t>Highlighted low-stock risk categories </a:t>
            </a:r>
          </a:p>
          <a:p>
            <a:r>
              <a:rPr lang="en-US" dirty="0"/>
              <a:t>Found top-performing product segments </a:t>
            </a:r>
          </a:p>
          <a:p>
            <a:r>
              <a:rPr lang="en-US" dirty="0"/>
              <a:t>Tracked monthly revenue growth trends </a:t>
            </a:r>
          </a:p>
          <a:p>
            <a:pPr marL="0" indent="0">
              <a:buNone/>
            </a:pPr>
            <a:r>
              <a:rPr lang="en-US" dirty="0"/>
              <a:t>These insights help improve supply-chain efficiency.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developed dashboard helps organizations:</a:t>
            </a:r>
          </a:p>
          <a:p>
            <a:r>
              <a:rPr lang="en-US" dirty="0"/>
              <a:t>Improve inventory visibility </a:t>
            </a:r>
          </a:p>
          <a:p>
            <a:r>
              <a:rPr lang="en-US" dirty="0"/>
              <a:t>Monitor supplier performance </a:t>
            </a:r>
          </a:p>
          <a:p>
            <a:r>
              <a:rPr lang="en-US" dirty="0"/>
              <a:t>Reduce stock-out risks </a:t>
            </a:r>
          </a:p>
          <a:p>
            <a:r>
              <a:rPr lang="en-US" dirty="0"/>
              <a:t>Support faster replenishment decisions </a:t>
            </a:r>
          </a:p>
          <a:p>
            <a:r>
              <a:rPr lang="en-US" dirty="0"/>
              <a:t>Track operational efficiency </a:t>
            </a:r>
          </a:p>
          <a:p>
            <a:r>
              <a:rPr lang="en-US" dirty="0"/>
              <a:t>Enable data-driven management decisions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system can be further enhanced by:</a:t>
            </a:r>
          </a:p>
          <a:p>
            <a:r>
              <a:rPr lang="en-US" dirty="0"/>
              <a:t>Adding demand forecasting models </a:t>
            </a:r>
          </a:p>
          <a:p>
            <a:r>
              <a:rPr lang="en-US" dirty="0"/>
              <a:t>Automating data refresh pipelines </a:t>
            </a:r>
          </a:p>
          <a:p>
            <a:r>
              <a:rPr lang="en-US" dirty="0"/>
              <a:t>Deploying dashboards on Power BI Service </a:t>
            </a:r>
          </a:p>
          <a:p>
            <a:r>
              <a:rPr lang="en-US" dirty="0"/>
              <a:t>Creating alert systems for low stock </a:t>
            </a:r>
          </a:p>
          <a:p>
            <a:r>
              <a:rPr lang="en-US" dirty="0"/>
              <a:t>Integrating machine learning predictions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Questions &amp; Discussion Welcome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Your Name – Narendra Verma</a:t>
            </a:r>
            <a:br>
              <a:rPr lang="en-US" dirty="0"/>
            </a:br>
            <a:r>
              <a:rPr lang="en-US" dirty="0"/>
              <a:t>Email – narendrav674@gmail.com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78</TotalTime>
  <Words>875</Words>
  <Application>Microsoft Office PowerPoint</Application>
  <PresentationFormat>On-screen Show (4:3)</PresentationFormat>
  <Paragraphs>176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Gill Sans MT</vt:lpstr>
      <vt:lpstr>Wingdings 2</vt:lpstr>
      <vt:lpstr>Dividend</vt:lpstr>
      <vt:lpstr>Inventory Optimization &amp; Supply Chain Insights</vt:lpstr>
      <vt:lpstr>Acknowledgment</vt:lpstr>
      <vt:lpstr>Project Objective</vt:lpstr>
      <vt:lpstr>Tools &amp; Technologies Used</vt:lpstr>
      <vt:lpstr>Dataset Overview</vt:lpstr>
      <vt:lpstr>Model view relationships</vt:lpstr>
      <vt:lpstr>Project Workflow Architecture</vt:lpstr>
      <vt:lpstr>Data Validation Using Excel</vt:lpstr>
      <vt:lpstr>Data Cleaning Using Python</vt:lpstr>
      <vt:lpstr>Python notebook</vt:lpstr>
      <vt:lpstr>Data Loading into MySQL</vt:lpstr>
      <vt:lpstr>Tables In MySQL</vt:lpstr>
      <vt:lpstr>SQL Data Transformation</vt:lpstr>
      <vt:lpstr>CASE WHEN query</vt:lpstr>
      <vt:lpstr>SQL Business Analysis Queries</vt:lpstr>
      <vt:lpstr>Query results table</vt:lpstr>
      <vt:lpstr>Power BI Data Model</vt:lpstr>
      <vt:lpstr>Dashboard 1: Inventory Overview</vt:lpstr>
      <vt:lpstr>Inventory dashboard</vt:lpstr>
      <vt:lpstr>Dashboard 2: Sales Performance</vt:lpstr>
      <vt:lpstr>Sales dashboard</vt:lpstr>
      <vt:lpstr>Dashboard 3: Supplier &amp; Warehouse Performance</vt:lpstr>
      <vt:lpstr>Supplier&amp; Warehouse dashboard</vt:lpstr>
      <vt:lpstr>Key Insights Generated</vt:lpstr>
      <vt:lpstr>Business Impact</vt:lpstr>
      <vt:lpstr>Future Improvements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VERMA</cp:lastModifiedBy>
  <cp:revision>3</cp:revision>
  <dcterms:created xsi:type="dcterms:W3CDTF">2013-01-27T09:14:16Z</dcterms:created>
  <dcterms:modified xsi:type="dcterms:W3CDTF">2026-04-17T07:57:38Z</dcterms:modified>
  <cp:category/>
</cp:coreProperties>
</file>